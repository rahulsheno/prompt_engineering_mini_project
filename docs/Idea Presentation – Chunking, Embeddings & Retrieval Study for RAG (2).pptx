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73" r:id="rId7"/>
    <p:sldId id="274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69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</p:sp>
      <p:sp>
        <p:nvSpPr>
          <p:cNvPr id="4" name="Text 2"/>
          <p:cNvSpPr/>
          <p:nvPr/>
        </p:nvSpPr>
        <p:spPr>
          <a:xfrm>
            <a:off x="812800" y="1632126"/>
            <a:ext cx="10883392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IDEA PRESENTATION · MINI PROJECT REVIEW 1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2135011"/>
            <a:ext cx="9156700" cy="8521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10"/>
              </a:lnSpc>
              <a:buNone/>
            </a:pPr>
            <a:r>
              <a:rPr lang="en-US" sz="62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Beyond Chunk Size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12800" y="3215746"/>
            <a:ext cx="850265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FB0C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multi-domain study of chunking, embedding and retrieval strategies for RAG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800" y="4360545"/>
            <a:ext cx="10883265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Team 2: Vinayak Kalal · Samvit Nandakishore · Sabbir Mondal · Rahul Shenoy</a:t>
            </a:r>
            <a:endParaRPr lang="en-US" sz="13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Prompt Engineering and Optimization for Generative AI (UE24AM343AB5)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0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Retrieval quality decides RAG quality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1644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1644" y="3119526"/>
            <a:ext cx="3058047" cy="1225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RAG answer is only as good as the text it retrieves. Chunk size, splitting method and embedding model change recall, noise and cost, yet they are often chosen by habit.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5842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1511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1511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1511" y="3119526"/>
            <a:ext cx="3058047" cy="14652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the studies we reviewed, comparisons use one generic corpus and one retrieval setup. Few test how document type, embedder and reranker interact, or what compression costs.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5708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1378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01378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angle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01378" y="3119526"/>
            <a:ext cx="3058047" cy="985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chunking × embedding × retrieval with chunk-size-independent metrics, then turn the results into a decision matrix and advisor app.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225550"/>
            <a:ext cx="7848600" cy="3517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70"/>
              </a:lnSpc>
              <a:buNone/>
            </a:pPr>
            <a:r>
              <a:rPr sz="2340">
                <a:solidFill>
                  <a:schemeClr val="tx1"/>
                </a:solidFill>
                <a:ea typeface="Arial" panose="020B0604020202020204" pitchFamily="34" charset="-122"/>
                <a:cs typeface="Georgia" panose="02040502050405020303" pitchFamily="34" charset="0"/>
                <a:sym typeface="+mn-ea"/>
              </a:rPr>
              <a:t>LITERATURE SURVEY</a:t>
            </a:r>
            <a:r>
              <a:rPr sz="234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</a:t>
            </a:r>
            <a:r>
              <a:rPr lang="en-US" sz="234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(1 of 2)</a:t>
            </a:r>
            <a:endParaRPr lang="en-US" sz="2340" dirty="0"/>
          </a:p>
        </p:txBody>
      </p:sp>
      <p:sp>
        <p:nvSpPr>
          <p:cNvPr id="6" name="Shape 4"/>
          <p:cNvSpPr/>
          <p:nvPr/>
        </p:nvSpPr>
        <p:spPr>
          <a:xfrm>
            <a:off x="815975" y="1809090"/>
            <a:ext cx="10560050" cy="4029737"/>
          </a:xfrm>
          <a:prstGeom prst="roundRect">
            <a:avLst>
              <a:gd name="adj" fmla="val 2442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886347"/>
          <a:ext cx="10350500" cy="3887920"/>
        </p:xfrm>
        <a:graphic>
          <a:graphicData uri="http://schemas.openxmlformats.org/drawingml/2006/table">
            <a:tbl>
              <a:tblPr/>
              <a:tblGrid>
                <a:gridCol w="1242060"/>
                <a:gridCol w="2794635"/>
                <a:gridCol w="6313805"/>
              </a:tblGrid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Theme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Work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it contributes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Lewis et al. [1]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Generator plus retrieval memory; basis of our pipeline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Gao et al. [3]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Naive, advanced and modular RAG; frames our pipeline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Barnett et al. [4]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Seven failure points, several in retrieval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 et al. [7]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Semantic chunking gains not consistent enough for its cost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Chen et al. [8]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Proposition units can improve retrieval and QA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Yepes et al. [9]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Structure-aware chunking helped on financial reports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Finardi et al. [10]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Retriever, chunk and generator choices interact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Günther et al. [11]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Late chunking: embed long text first, then pool chunks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Anthropic [12]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Contextual Retrieval: prepend LLM-written context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Reimers and Gurevych [13]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Sentence-BERT: bi-encoder sentence embeddings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218803"/>
            <a:ext cx="7848600" cy="3378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sz="2240">
                <a:solidFill>
                  <a:schemeClr val="tx1"/>
                </a:solidFill>
                <a:ea typeface="Arial" panose="020B0604020202020204" pitchFamily="34" charset="-122"/>
                <a:cs typeface="Georgia" panose="02040502050405020303" pitchFamily="34" charset="0"/>
                <a:sym typeface="+mn-ea"/>
              </a:rPr>
              <a:t>LITERATURE SURVEY </a:t>
            </a:r>
            <a:r>
              <a:rPr lang="en-US" sz="224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(2 of 2)</a:t>
            </a:r>
            <a:endParaRPr lang="en-US" sz="2240" dirty="0"/>
          </a:p>
        </p:txBody>
      </p:sp>
      <p:sp>
        <p:nvSpPr>
          <p:cNvPr id="6" name="Shape 4"/>
          <p:cNvSpPr/>
          <p:nvPr/>
        </p:nvSpPr>
        <p:spPr>
          <a:xfrm>
            <a:off x="815975" y="1788452"/>
            <a:ext cx="10560050" cy="4050374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865709"/>
          <a:ext cx="10350500" cy="3909422"/>
        </p:xfrm>
        <a:graphic>
          <a:graphicData uri="http://schemas.openxmlformats.org/drawingml/2006/table">
            <a:tbl>
              <a:tblPr/>
              <a:tblGrid>
                <a:gridCol w="1242060"/>
                <a:gridCol w="2794635"/>
                <a:gridCol w="6313805"/>
              </a:tblGrid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Theme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Work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it contributes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Wang et al. [14]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E5: weakly-supervised contrastive pre-training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Xiao et al. [15]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BGE: open general-purpose embedding family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Kusupati et al. [20]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Matryoshka: leading dimensions stay useful when truncated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Shakir et al. [21]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Binary and scalar quantization keep much of the quality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Robertson and Zaragoza [22]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BM25: strong sparse baseline for exact terms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Cormack et al. [23]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Reciprocal Rank Fusion: training-free rank merging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Nogueira and Cho [24]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Cross-encoder reranking improves ordering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Wang et al. [25]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Recommends balanced RAG component combinations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Evaluation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Es et al. [27]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RAGAS: reference-free RAG metrics with an LLM judge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402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Evaluation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Zheng et al. [28]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LLM judges agree with humans but show known biases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still missing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1467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0444" y="2234406"/>
            <a:ext cx="8047779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Limited document diversity.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Most studies use one generic or single-domain corpus.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765161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644" y="28819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0444" y="2969595"/>
            <a:ext cx="916612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Components studied in isolation.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Chunking, embedder and reranker are rarely varied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500351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644" y="361711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0444" y="3704785"/>
            <a:ext cx="851757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Metrics tied to chunk boundaries.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Chunkers of different sizes are hard to compare fairly.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4235540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4352308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0444" y="4439974"/>
            <a:ext cx="9175539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Efficiency studied separately.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Truncation and quantization are seldom combined with chunking.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4970726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1644" y="508749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0444" y="5175163"/>
            <a:ext cx="896461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practitioner-ready output.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Few decision aids map document type and priorities to a setup.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EXPECT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hypotheses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044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4FD1C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47044" y="3023040"/>
            <a:ext cx="3005723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 beats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044" y="3398927"/>
            <a:ext cx="3005723" cy="985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Structure-aware chunking beats fixed-size and semantic chunking on structured documents such as API docs and legal text.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3394" y="4568385"/>
            <a:ext cx="991923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4FD1C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5842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911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E0A45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36911" y="3023040"/>
            <a:ext cx="3005723" cy="5739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Reranking narrows the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36911" y="3673211"/>
            <a:ext cx="3005723" cy="5053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reranker narrows the performance gap between chunking strategies.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3261" y="4568385"/>
            <a:ext cx="1551340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E0A45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45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5708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6778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7FB2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H3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226778" y="3023040"/>
            <a:ext cx="3005723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Compression is cheap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6778" y="3398927"/>
            <a:ext cx="3005723" cy="7453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Truncated or binary embeddings lose little accuracy while cutting storage and latency.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3128" y="4568385"/>
            <a:ext cx="1009297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7FB2FF"/>
            </a:solidFill>
            <a:prstDash val="solid"/>
          </a:ln>
        </p:spPr>
        <p:txBody>
          <a:bodyPr wrap="none" lIns="1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B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staged experiment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1644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Corpora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1644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documentation and legal text, with a question set and evidence spans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515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4172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739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739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739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Fixed, sentence, semantic, structure-aware and parent-child (hierarchical)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3090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6747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314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314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314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BGE, E5, GTE and MiniLM, with optional Gemini and OpenAI embeddings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5665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9322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889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889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9889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Dense (FAISS), hybrid with BM25, and hybrid plus cross-encoder reranker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458584"/>
            <a:ext cx="10566400" cy="544777"/>
          </a:xfrm>
          <a:prstGeom prst="roundRect">
            <a:avLst>
              <a:gd name="adj" fmla="val 18650"/>
            </a:avLst>
          </a:prstGeom>
          <a:solidFill>
            <a:srgbClr val="E1EFEC"/>
          </a:solidFill>
        </p:spPr>
        <p:txBody>
          <a:bodyPr wrap="square" lIns="173442" tIns="122642" rIns="0" bIns="9724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Staged runs keep the grid small: all chunkers first, then top chunkers × embedders, then retrieval variants, then efficiency tests.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Corpus and question set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E7C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21644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documents (Python library docs)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842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1511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C974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70,791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1511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words of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1378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01378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with evidence spans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445849"/>
            <a:ext cx="6763191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651517"/>
            <a:ext cx="654240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types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3996885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Single-hop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4544" y="4000680"/>
            <a:ext cx="3556000" cy="241300"/>
          </a:xfrm>
          <a:prstGeom prst="roundRect">
            <a:avLst>
              <a:gd name="adj" fmla="val 15789"/>
            </a:avLst>
          </a:prstGeom>
          <a:solidFill>
            <a:srgbClr val="0E7C72"/>
          </a:solidFill>
        </p:spPr>
      </p:sp>
      <p:sp>
        <p:nvSpPr>
          <p:cNvPr id="19" name="Text 17"/>
          <p:cNvSpPr/>
          <p:nvPr/>
        </p:nvSpPr>
        <p:spPr>
          <a:xfrm>
            <a:off x="6342945" y="3996885"/>
            <a:ext cx="24862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1644" y="4321969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Multi-hop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34544" y="4325764"/>
            <a:ext cx="889000" cy="241300"/>
          </a:xfrm>
          <a:prstGeom prst="roundRect">
            <a:avLst>
              <a:gd name="adj" fmla="val 15789"/>
            </a:avLst>
          </a:prstGeom>
          <a:solidFill>
            <a:srgbClr val="C9741A"/>
          </a:solidFill>
        </p:spPr>
      </p:sp>
      <p:sp>
        <p:nvSpPr>
          <p:cNvPr id="22" name="Text 20"/>
          <p:cNvSpPr/>
          <p:nvPr/>
        </p:nvSpPr>
        <p:spPr>
          <a:xfrm>
            <a:off x="3675945" y="4321969"/>
            <a:ext cx="24862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1644" y="4647053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Unanswerable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34544" y="4650848"/>
            <a:ext cx="590550" cy="241300"/>
          </a:xfrm>
          <a:prstGeom prst="roundRect">
            <a:avLst>
              <a:gd name="adj" fmla="val 15789"/>
            </a:avLst>
          </a:prstGeom>
          <a:solidFill>
            <a:srgbClr val="0F1B2D"/>
          </a:solidFill>
        </p:spPr>
      </p:sp>
      <p:sp>
        <p:nvSpPr>
          <p:cNvPr id="25" name="Text 23"/>
          <p:cNvSpPr/>
          <p:nvPr/>
        </p:nvSpPr>
        <p:spPr>
          <a:xfrm>
            <a:off x="3377495" y="4647053"/>
            <a:ext cx="24862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88716" y="3445849"/>
            <a:ext cx="3587309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4386" y="3651517"/>
            <a:ext cx="3271249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corpus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94386" y="3996885"/>
            <a:ext cx="3271249" cy="6940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blocks, tables and headings make it structured. A legal corpus will be the second document type.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Chunking strategies prepared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7040739" cy="3560939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7" name="Image 0" descr="Bar chart of number of chunks produced by each of nine chunking strategies"/>
          <p:cNvPicPr>
            <a:picLocks noChangeAspect="1"/>
          </p:cNvPicPr>
          <p:nvPr/>
        </p:nvPicPr>
        <p:blipFill>
          <a:blip r:embed="rId1"/>
          <a:srcRect l="-16" r="-16"/>
          <a:stretch>
            <a:fillRect/>
          </a:stretch>
        </p:blipFill>
        <p:spPr>
          <a:xfrm>
            <a:off x="970844" y="2159440"/>
            <a:ext cx="6731000" cy="330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66264" y="2029972"/>
            <a:ext cx="3309761" cy="2044435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1933" y="2235640"/>
            <a:ext cx="3100917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text, different chunk sets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1933" y="2565840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89433" y="2565840"/>
            <a:ext cx="2724256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from the same 70,791 words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71933" y="2868085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89433" y="2868085"/>
            <a:ext cx="2663719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281 to 1,410 chunks per strategy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71933" y="3170324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89433" y="3170324"/>
            <a:ext cx="2579158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length 66 to 254 words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1933" y="3472569"/>
            <a:ext cx="266700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89433" y="3472569"/>
            <a:ext cx="2658350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parent_child embeds small chunks and returns the larger parent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118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AND RETRIEVAL</a:t>
            </a:r>
            <a:endParaRPr lang="en-US" sz="105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53244"/>
            <a:ext cx="7848600" cy="4086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15"/>
              </a:lnSpc>
              <a:buNone/>
            </a:pPr>
            <a:r>
              <a:rPr lang="en-US" sz="274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Models and retrieval modes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815975" y="1893621"/>
            <a:ext cx="10560050" cy="23061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983584"/>
          <a:ext cx="10351911" cy="2137481"/>
        </p:xfrm>
        <a:graphic>
          <a:graphicData uri="http://schemas.openxmlformats.org/drawingml/2006/table">
            <a:tbl>
              <a:tblPr/>
              <a:tblGrid>
                <a:gridCol w="1332424"/>
                <a:gridCol w="2972331"/>
                <a:gridCol w="1332424"/>
                <a:gridCol w="4714732"/>
              </a:tblGrid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Hugging Face id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Dimensions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Notes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bge-small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BAAI/bge-small-en-v1.5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Query instruction prefix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e5-small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intfloat/e5-small-v2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Query and passage prefixes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gte-small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thenlper/gte-small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General text embeddings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67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MiniLM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all-MiniLM-L6-v2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Also splits text for semantic chunking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1644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1644" y="5173749"/>
            <a:ext cx="3058047" cy="212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Dense</a:t>
            </a:r>
            <a:endParaRPr lang="en-US" sz="1225" dirty="0"/>
          </a:p>
        </p:txBody>
      </p:sp>
      <p:sp>
        <p:nvSpPr>
          <p:cNvPr id="11" name="Text 8"/>
          <p:cNvSpPr/>
          <p:nvPr/>
        </p:nvSpPr>
        <p:spPr>
          <a:xfrm>
            <a:off x="1021644" y="5462321"/>
            <a:ext cx="3058047" cy="196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015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FAISS vector search</a:t>
            </a:r>
            <a:endParaRPr lang="en-US" sz="1015" dirty="0"/>
          </a:p>
        </p:txBody>
      </p:sp>
      <p:sp>
        <p:nvSpPr>
          <p:cNvPr id="12" name="Shape 9"/>
          <p:cNvSpPr/>
          <p:nvPr/>
        </p:nvSpPr>
        <p:spPr>
          <a:xfrm>
            <a:off x="4405842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1511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1511" y="5173749"/>
            <a:ext cx="3058047" cy="151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4611511" y="5401909"/>
            <a:ext cx="3171472" cy="2566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85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BM25 + dense, merged by reciprocal rank fusion</a:t>
            </a:r>
            <a:endParaRPr lang="en-US" sz="1085" dirty="0"/>
          </a:p>
        </p:txBody>
      </p:sp>
      <p:sp>
        <p:nvSpPr>
          <p:cNvPr id="16" name="Shape 13"/>
          <p:cNvSpPr/>
          <p:nvPr/>
        </p:nvSpPr>
        <p:spPr>
          <a:xfrm>
            <a:off x="7995708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01378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01378" y="5173749"/>
            <a:ext cx="3058047" cy="151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 + rerank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201378" y="5401909"/>
            <a:ext cx="3171472" cy="2566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Cross-encoder re-scores the top candidates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Testing each hypothesis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10560050" cy="2915973"/>
          </a:xfrm>
          <a:prstGeom prst="roundRect">
            <a:avLst>
              <a:gd name="adj" fmla="val 3375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2119929"/>
          <a:ext cx="10351911" cy="2747345"/>
        </p:xfrm>
        <a:graphic>
          <a:graphicData uri="http://schemas.openxmlformats.org/drawingml/2006/table">
            <a:tbl>
              <a:tblPr/>
              <a:tblGrid>
                <a:gridCol w="3382308"/>
                <a:gridCol w="3894778"/>
                <a:gridCol w="3074825"/>
              </a:tblGrid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Hypothesis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Experiment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Evidence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H1 · structure-aware chunking wins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 chunkers across embedders, on each document type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Paired bootstrap on f_ctx with 95% CI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0A45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H2 · reranking narrows the gap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 chunkers × dense, hybrid and hybrid + rerank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Spread between best and worst chunker per mode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7FB2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H3 · compression is cheap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256, 128 and 64 dimensions, plus binary vectors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f_ctx relative to full vectors, index size, latency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203118"/>
            <a:ext cx="10883392" cy="265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Outputs: heatmaps, pipeline-effect charts, an accuracy-versus-latency view and the decision matrix.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 and plan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30095"/>
            <a:ext cx="3380105" cy="1012825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015" y="2396490"/>
            <a:ext cx="3084195" cy="607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Idea, literature survey and groundwork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630" y="2030095"/>
            <a:ext cx="3380105" cy="1012825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8670" y="2373630"/>
            <a:ext cx="3084195" cy="5067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High-level design and data collection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920" y="2030095"/>
            <a:ext cx="3274695" cy="975360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8960" y="2359660"/>
            <a:ext cx="3084195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demo and IEEE report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514018"/>
            <a:ext cx="5175250" cy="2267656"/>
          </a:xfrm>
          <a:prstGeom prst="roundRect">
            <a:avLst>
              <a:gd name="adj" fmla="val 43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719692"/>
            <a:ext cx="490682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Review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4065060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9144" y="4065060"/>
            <a:ext cx="311668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Human-verify the 85 gold questions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1644" y="4385028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9144" y="4385028"/>
            <a:ext cx="280839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a legal or regulatory corpus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1644" y="4704997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9144" y="4704997"/>
            <a:ext cx="281908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Re-run with confidence intervals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1644" y="5024965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9144" y="5024965"/>
            <a:ext cx="400854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Cross-check the judge with a second provider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1644" y="5344939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39144" y="5344939"/>
            <a:ext cx="257704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the Config Advisor app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00775" y="3514018"/>
            <a:ext cx="5175250" cy="1947686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6445" y="3719692"/>
            <a:ext cx="490682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team split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6445" y="4065060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3945" y="4065060"/>
            <a:ext cx="239024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and chunking pipeline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6445" y="4385028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3945" y="4385028"/>
            <a:ext cx="236431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and efficiency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6445" y="4704997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3945" y="4704997"/>
            <a:ext cx="2323571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set and metrics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6445" y="5024965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3945" y="5024965"/>
            <a:ext cx="318272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Retrieval, reranking and advisor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3243801" y="2870200"/>
            <a:ext cx="5704311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8800"/>
              </a:lnSpc>
              <a:buNone/>
            </a:pPr>
            <a:r>
              <a:rPr lang="en-US" sz="80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5788</Words>
  <Application>WPS Presentation</Application>
  <PresentationFormat>On-screen Show (16:9)</PresentationFormat>
  <Paragraphs>456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Georgia</vt:lpstr>
      <vt:lpstr>Georgia</vt:lpstr>
      <vt:lpstr>Georgia</vt:lpstr>
      <vt:lpstr>Arial</vt:lpstr>
      <vt:lpstr>Arial</vt:lpstr>
      <vt:lpstr>Microsoft YaHei</vt:lpstr>
      <vt:lpstr>Arial Unicode MS</vt:lpstr>
      <vt:lpstr>Calibri</vt:lpstr>
      <vt:lpstr>Gadugi</vt:lpstr>
      <vt:lpstr>Idea Presentation – Chunking, Embeddings &amp; Retrieval Study for RAG</vt:lpstr>
      <vt:lpstr>1_Idea Presentation – Chunking, Embeddings &amp; Retrieval Study for RAG</vt:lpstr>
      <vt:lpstr>Beyond Chunk Size</vt:lpstr>
      <vt:lpstr>Retrieval quality decides RAG quality</vt:lpstr>
      <vt:lpstr>Twenty works surveyed (1 of 2)</vt:lpstr>
      <vt:lpstr>Twenty works surveyed (2 of 2)</vt:lpstr>
      <vt:lpstr>What is still missing</vt:lpstr>
      <vt:lpstr>Three hypotheses</vt:lpstr>
      <vt:lpstr>A staged experiment</vt:lpstr>
      <vt:lpstr>Corpus and question set</vt:lpstr>
      <vt:lpstr>Chunking strategies prepared</vt:lpstr>
      <vt:lpstr>Models and retrieval modes</vt:lpstr>
      <vt:lpstr>Testing each hypothesis</vt:lpstr>
      <vt:lpstr>Next steps and plan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Presentation – Chunking, Embeddings &amp; Retrieval Study for RAG</dc:title>
  <dc:creator/>
  <cp:lastModifiedBy>rahul shenoy</cp:lastModifiedBy>
  <cp:revision>3</cp:revision>
  <dcterms:created xsi:type="dcterms:W3CDTF">2026-10-12T04:29:00Z</dcterms:created>
  <dcterms:modified xsi:type="dcterms:W3CDTF">2026-10-12T09:21:59Z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B18EA64FC1564514BB57219D934E90CD_12</vt:lpwstr>
  </property>
  <property fmtid="{D5CDD505-2E9C-101B-9397-08002B2CF9AE}" pid="3" name="KSOProductBuildVer">
    <vt:lpwstr>2057-12.2.0.23206</vt:lpwstr>
  </property>
</Properties>
</file>