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73" r:id="rId7"/>
    <p:sldId id="274" r:id="rId8"/>
    <p:sldId id="275" r:id="rId21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76" r:id="rId22"/>
    <p:sldId id="277" r:id="rId23"/>
    <p:sldId id="278" r:id="rId24"/>
    <p:sldId id="269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5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68"/>
            <a:ext cx="7620000" cy="474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2077595"/>
            <a:ext cx="10566400" cy="3967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1000" y="3937000"/>
            <a:ext cx="2921000" cy="2921000"/>
          </a:xfrm>
          <a:custGeom>
            <a:avLst/>
            <a:gdLst/>
            <a:ahLst/>
            <a:cxnLst/>
            <a:rect l="l" t="t" r="r" b="b"/>
            <a:pathLst>
              <a:path w="2921000" h="2921000">
                <a:moveTo>
                  <a:pt x="1625600" y="0"/>
                </a:moveTo>
                <a:lnTo>
                  <a:pt x="2921000" y="0"/>
                </a:lnTo>
                <a:lnTo>
                  <a:pt x="2921000" y="2921000"/>
                </a:lnTo>
                <a:lnTo>
                  <a:pt x="0" y="2921000"/>
                </a:lnTo>
                <a:lnTo>
                  <a:pt x="0" y="1625600"/>
                </a:lnTo>
                <a:arcTo wR="1625600" hR="1625600" stAng="10800000" swAng="5400000"/>
                <a:close/>
              </a:path>
            </a:pathLst>
          </a:custGeom>
          <a:solidFill>
            <a:srgbClr val="13233B"/>
          </a:solidFill>
        </p:spPr>
      </p:sp>
      <p:sp>
        <p:nvSpPr>
          <p:cNvPr id="3" name="Shape 1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762000" y="762000"/>
                </a:lnTo>
                <a:arcTo wR="762000" hR="762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1C0"/>
          </a:solidFill>
        </p:spPr>
      </p:sp>
      <p:sp>
        <p:nvSpPr>
          <p:cNvPr id="4" name="Text 2"/>
          <p:cNvSpPr/>
          <p:nvPr/>
        </p:nvSpPr>
        <p:spPr>
          <a:xfrm>
            <a:off x="812800" y="1632126"/>
            <a:ext cx="10883392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 PROJECT REVIEW · RESULTS AND ADVISOR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2135011"/>
            <a:ext cx="9156700" cy="8521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510"/>
              </a:lnSpc>
              <a:buNone/>
            </a:pPr>
            <a:r>
              <a:rPr lang="en-US" sz="62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Beyond Chunk Size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12800" y="3215746"/>
            <a:ext cx="850265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FB0C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multi-domain study of chunking, embedding and retrieval strategies for RAG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2800" y="4360545"/>
            <a:ext cx="10883265" cy="7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Team 2: Vinayak Kalal · Samvit Nandakishore · Sabbir Mondal · Rahul Shenoy</a:t>
            </a:r>
            <a:endParaRPr lang="en-US" sz="13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300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Prompt Engineering and Optimization for Generative AI (UE24AM343AB5)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0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Retrieval quality decides RAG quality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1"/>
            <a:ext cx="3380317" cy="2735086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3564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1644" y="2743641"/>
            <a:ext cx="305804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1644" y="3119526"/>
            <a:ext cx="3058047" cy="1225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RAG answer is only as good as the text it retrieves. Chunk size, splitting method and embedding model change recall, noise and cost, yet they are often chosen by habit.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5842" y="2029971"/>
            <a:ext cx="3380317" cy="2735086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1511" y="223564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1511" y="2743641"/>
            <a:ext cx="305804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1511" y="3119526"/>
            <a:ext cx="3058047" cy="14652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the studies we reviewed, comparisons use one generic corpus and one retrieval setup. Few test how document type, embedder and reranker interact, or what compression costs.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5708" y="2029971"/>
            <a:ext cx="3380317" cy="2735086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1378" y="223564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01378" y="2743641"/>
            <a:ext cx="3058047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angle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01378" y="3119526"/>
            <a:ext cx="3058047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chunking × embedding × retrieval with chunk-size-independent metrics mapped to ITU-T F.748.52, then build a decision matrix and advisor app.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1225550"/>
            <a:ext cx="7848600" cy="3517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70"/>
              </a:lnSpc>
              <a:buNone/>
            </a:pPr>
            <a:r>
              <a:rPr sz="2340">
                <a:solidFill>
                  <a:schemeClr val="tx1"/>
                </a:solidFill>
                <a:ea typeface="Arial" panose="020B0604020202020204" pitchFamily="34" charset="-122"/>
                <a:cs typeface="Georgia" panose="02040502050405020303" pitchFamily="34" charset="0"/>
                <a:sym typeface="+mn-ea"/>
              </a:rPr>
              <a:t>LITERATURE SURVEY (1 of 3)</a:t>
            </a:r>
            <a:endParaRPr lang="en-US" sz="2340" dirty="0"/>
          </a:p>
        </p:txBody>
      </p:sp>
      <p:sp>
        <p:nvSpPr>
          <p:cNvPr id="6" name="Shape 4"/>
          <p:cNvSpPr/>
          <p:nvPr/>
        </p:nvSpPr>
        <p:spPr>
          <a:xfrm>
            <a:off x="815975" y="1809090"/>
            <a:ext cx="10560050" cy="4029737"/>
          </a:xfrm>
          <a:prstGeom prst="roundRect">
            <a:avLst>
              <a:gd name="adj" fmla="val 2442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1886347"/>
          <a:ext cx="10350500" cy="3887920"/>
        </p:xfrm>
        <a:graphic>
          <a:graphicData uri="http://schemas.openxmlformats.org/drawingml/2006/table">
            <a:tbl>
              <a:tblPr/>
              <a:tblGrid>
                <a:gridCol w="1242060"/>
                <a:gridCol w="2794635"/>
                <a:gridCol w="6313805"/>
              </a:tblGrid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Theme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Work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it contributes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Foundations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Lewis et al. [1]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Generator plus retrieval memory; basis of our pipeline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Foundations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Gao et al. [3]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Naive, advanced and modular RAG; frames our pipeline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Foundations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Barnett et al. [4]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Seven failure points, several in retrieval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 et al. [7]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Semantic chunking gains not consistent enough for its cost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17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Chen et al. [8]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Proposition units can improve retrieval and QA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Yepes et al. [9]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Structure-aware chunking helped on financial reports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Finardi et al. [10]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Retriever, chunk and generator choices interact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Günther et al. [11]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Late chunking: embed long text first, then pool chunks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Chunking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Anthropic [12]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Contextual Retrieval: prepend LLM-written context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483"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Reimers and Gurevych [13]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0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Sentence-BERT: bi-encoder sentence embeddings</a:t>
                      </a:r>
                      <a:endParaRPr lang="en-US" sz="127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57150" marB="571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9" name="Key takeaway"/>
          <p:cNvSpPr txBox="1"/>
          <p:nvPr/>
        </p:nvSpPr>
        <p:spPr>
          <a:xfrm>
            <a:off x="813816" y="596188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E7C72"/>
                </a:solidFill>
                <a:latin typeface="Arial"/>
              </a:rPr>
              <a:t>Key takeaway: </a:t>
            </a:r>
            <a:r>
              <a:rPr sz="1400" b="0">
                <a:solidFill>
                  <a:srgbClr val="1B2430"/>
                </a:solidFill>
                <a:latin typeface="Arial"/>
              </a:rPr>
              <a:t>retrieval quality bounds answer quality, and the best chunking method depends on the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1218803"/>
            <a:ext cx="7848600" cy="3378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sz="2240">
                <a:solidFill>
                  <a:schemeClr val="tx1"/>
                </a:solidFill>
                <a:ea typeface="Arial" panose="020B0604020202020204" pitchFamily="34" charset="-122"/>
                <a:cs typeface="Georgia" panose="02040502050405020303" pitchFamily="34" charset="0"/>
                <a:sym typeface="+mn-ea"/>
              </a:rPr>
              <a:t>LITERATURE SURVEY (2 of 3)</a:t>
            </a:r>
            <a:endParaRPr lang="en-US" sz="2240" dirty="0"/>
          </a:p>
        </p:txBody>
      </p:sp>
      <p:sp>
        <p:nvSpPr>
          <p:cNvPr id="6" name="Shape 4"/>
          <p:cNvSpPr/>
          <p:nvPr/>
        </p:nvSpPr>
        <p:spPr>
          <a:xfrm>
            <a:off x="815975" y="1788452"/>
            <a:ext cx="10560050" cy="4087368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1865709"/>
          <a:ext cx="10350500" cy="3950208"/>
        </p:xfrm>
        <a:graphic>
          <a:graphicData uri="http://schemas.openxmlformats.org/drawingml/2006/table">
            <a:tbl>
              <a:tblPr/>
              <a:tblGrid>
                <a:gridCol w="1242060"/>
                <a:gridCol w="2794635"/>
                <a:gridCol w="6313805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Theme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Work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it contributes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Wang et al. [14]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E5: weakly-supervised contrastive pre-training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Xiao et al. [15]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BGE: open general-purpose embedding family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Kusupati et al. [20]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Matryoshka: leading dimensions stay useful when truncated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Embeddings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Shakir et al. [21]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Binary and scalar quantization keep much of the quality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Robertson and Zaragoza [22]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BM25: strong sparse baseline for exact terms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Cormack et al. [23]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Reciprocal Rank Fusion: training-free rank merging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Nogueira and Cho [24]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Cross-encoder reranking improves ordering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Pipeline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Wang et al. [25]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Recommends balanced RAG component combinations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Evaluation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Es et al. [27]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RAGAS: reference-free RAG metrics with an LLM judge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Evaluation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Zheng et al. [28]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LLM judges agree with humans but show known biases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5D6773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Evaluation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ITU-T F.748.52 [29]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00"/>
                        </a:lnSpc>
                        <a:buNone/>
                      </a:pPr>
                      <a:r>
                        <a:rPr lang="en-US" sz="1285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Standard of requirements and evaluation methods for RAG</a:t>
                      </a:r>
                      <a:endParaRPr lang="en-US" sz="1285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9" name="Key takeaway"/>
          <p:cNvSpPr txBox="1"/>
          <p:nvPr/>
        </p:nvSpPr>
        <p:spPr>
          <a:xfrm>
            <a:off x="813816" y="6007608"/>
            <a:ext cx="10561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E7C72"/>
                </a:solidFill>
                <a:latin typeface="Arial"/>
              </a:rPr>
              <a:t>Key takeaway: </a:t>
            </a:r>
            <a:r>
              <a:rPr sz="1400" b="0">
                <a:solidFill>
                  <a:srgbClr val="1B2430"/>
                </a:solidFill>
                <a:latin typeface="Arial"/>
              </a:rPr>
              <a:t>embedding, pipeline and evaluation choices interact with chunking and should be tested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SURVEY (3 OF 3)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1467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0444" y="2112267"/>
            <a:ext cx="9464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Foundations.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Retrieval quality bounds answer quality, so we measure recall, precision and noise together, not recall alone.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765161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644" y="288193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0444" y="2847457"/>
            <a:ext cx="9464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The best method depends on document structure and task; semantic chunking is disputed and structure-aware methods are tested on one domain only.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500351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644" y="361711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0444" y="3582646"/>
            <a:ext cx="9464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Leaderboard ranks may not transfer to a corpus, so truncation and quantization must be tested together with chunking.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4235540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4352308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0444" y="4317836"/>
            <a:ext cx="9464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 pipeline.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Hybrid search and reranking may reduce how much chunking matters, but this was untested across chunkers (our H2).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4970726"/>
            <a:ext cx="10560050" cy="639939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1644" y="5087497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0444" y="5053022"/>
            <a:ext cx="946404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We need chunk-size-independent metrics, a cautious LLM judge and a mapping to ITU-T F.748.52 so results are comparable.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still missing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68"/>
            <a:ext cx="10560050" cy="566928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112264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0444" y="2185416"/>
            <a:ext cx="8047779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Limited document diversity.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Most studies use one generic or single-domain corpus.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2688336"/>
            <a:ext cx="10560050" cy="566928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644" y="2770632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0444" y="2843784"/>
            <a:ext cx="916612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Components studied in isolation.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Chunking, embedder and reranker are rarely varied together.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346704"/>
            <a:ext cx="10560050" cy="566928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644" y="34290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0444" y="3502152"/>
            <a:ext cx="851757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Metrics tied to chunk boundaries.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Chunkers of different sizes are hard to compare fairly.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4005072"/>
            <a:ext cx="10560050" cy="566928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4087368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0444" y="4160520"/>
            <a:ext cx="9175539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Efficiency studied separately.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Truncation and quantization are seldom combined with chunking.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975" y="4663440"/>
            <a:ext cx="10560050" cy="566928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1644" y="4745736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0444" y="4818888"/>
            <a:ext cx="896461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practitioner-ready output.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Few decision aids map document type and priorities to a setup.</a:t>
            </a:r>
            <a:endParaRPr lang="en-US" sz="1400" dirty="0"/>
          </a:p>
        </p:txBody>
      </p:sp>
      <p:sp>
        <p:nvSpPr>
          <p:cNvPr id="22" name="Shape 16 copy"/>
          <p:cNvSpPr/>
          <p:nvPr/>
        </p:nvSpPr>
        <p:spPr>
          <a:xfrm>
            <a:off x="815975" y="5321808"/>
            <a:ext cx="10560050" cy="566928"/>
          </a:xfrm>
          <a:prstGeom prst="roundRect">
            <a:avLst>
              <a:gd name="adj" fmla="val 11411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3" name="Text 17 copy"/>
          <p:cNvSpPr/>
          <p:nvPr/>
        </p:nvSpPr>
        <p:spPr>
          <a:xfrm>
            <a:off x="1021644" y="5404104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18 copy"/>
          <p:cNvSpPr/>
          <p:nvPr/>
        </p:nvSpPr>
        <p:spPr>
          <a:xfrm>
            <a:off x="1580444" y="5477256"/>
            <a:ext cx="8964613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link to standards.</a:t>
            </a:r>
            <a:r>
              <a:rPr lang="en-US" sz="14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Results are rarely reported against ITU-T F.748.52.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1000" y="3937000"/>
            <a:ext cx="2921000" cy="2921000"/>
          </a:xfrm>
          <a:custGeom>
            <a:avLst/>
            <a:gdLst/>
            <a:ahLst/>
            <a:cxnLst/>
            <a:rect l="l" t="t" r="r" b="b"/>
            <a:pathLst>
              <a:path w="2921000" h="2921000">
                <a:moveTo>
                  <a:pt x="1625600" y="0"/>
                </a:moveTo>
                <a:lnTo>
                  <a:pt x="2921000" y="0"/>
                </a:lnTo>
                <a:lnTo>
                  <a:pt x="2921000" y="2921000"/>
                </a:lnTo>
                <a:lnTo>
                  <a:pt x="0" y="2921000"/>
                </a:lnTo>
                <a:lnTo>
                  <a:pt x="0" y="1625600"/>
                </a:lnTo>
                <a:arcTo wR="1625600" hR="1625600" stAng="10800000" swAng="5400000"/>
                <a:close/>
              </a:path>
            </a:pathLst>
          </a:custGeom>
          <a:solidFill>
            <a:srgbClr val="13233B"/>
          </a:solidFill>
        </p:spPr>
      </p:sp>
      <p:sp>
        <p:nvSpPr>
          <p:cNvPr id="3" name="Shape 1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762000" y="762000"/>
                </a:lnTo>
                <a:arcTo wR="762000" hR="762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1C0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hypotheses, three verdicts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3380317" cy="3100652"/>
          </a:xfrm>
          <a:prstGeom prst="roundRect">
            <a:avLst>
              <a:gd name="adj" fmla="val 3174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044" y="2261040"/>
            <a:ext cx="300572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dirty="0">
                <a:solidFill>
                  <a:srgbClr val="4FD1C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47044" y="3023040"/>
            <a:ext cx="3005723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 beats 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044" y="3398927"/>
            <a:ext cx="3005723" cy="9853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D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supported. Structure-aware chunking ranks 2nd on health and 4th on legal; no clear win.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3394" y="4568385"/>
            <a:ext cx="1371600" cy="324820"/>
          </a:xfrm>
          <a:prstGeom prst="roundRect">
            <a:avLst>
              <a:gd name="adj" fmla="val 44963"/>
            </a:avLst>
          </a:prstGeom>
          <a:noFill/>
          <a:ln w="12700">
            <a:solidFill>
              <a:srgbClr val="4FD1C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supported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5842" y="2029972"/>
            <a:ext cx="3380317" cy="3100652"/>
          </a:xfrm>
          <a:prstGeom prst="roundRect">
            <a:avLst>
              <a:gd name="adj" fmla="val 3174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911" y="2261040"/>
            <a:ext cx="300572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dirty="0">
                <a:solidFill>
                  <a:srgbClr val="E0A45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36911" y="3023040"/>
            <a:ext cx="3005723" cy="5739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Reranking narrows the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36911" y="3673211"/>
            <a:ext cx="3005723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D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Supported. With a reranker the spread falls to 0.07 (health) and 0.06 (legal).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3261" y="4568385"/>
            <a:ext cx="2057400" cy="324820"/>
          </a:xfrm>
          <a:prstGeom prst="roundRect">
            <a:avLst>
              <a:gd name="adj" fmla="val 44963"/>
            </a:avLst>
          </a:prstGeom>
          <a:noFill/>
          <a:ln w="12700">
            <a:solidFill>
              <a:srgbClr val="E0A45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45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Supported (descriptive)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5708" y="2029972"/>
            <a:ext cx="3380317" cy="3100652"/>
          </a:xfrm>
          <a:prstGeom prst="roundRect">
            <a:avLst>
              <a:gd name="adj" fmla="val 3174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6778" y="2261040"/>
            <a:ext cx="300572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dirty="0">
                <a:solidFill>
                  <a:srgbClr val="7FB2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H3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226778" y="3023040"/>
            <a:ext cx="3005723" cy="2996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F1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Compression is cheap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6778" y="3398927"/>
            <a:ext cx="3005723" cy="7453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D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Partly supported. 256 dimensions keep 95 to 98% of quality; binary codes keep 79 to 91%.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33128" y="4568385"/>
            <a:ext cx="1508760" cy="324820"/>
          </a:xfrm>
          <a:prstGeom prst="roundRect">
            <a:avLst>
              <a:gd name="adj" fmla="val 44963"/>
            </a:avLst>
          </a:prstGeom>
          <a:noFill/>
          <a:ln w="12700">
            <a:solidFill>
              <a:srgbClr val="7FB2FF"/>
            </a:solidFill>
            <a:prstDash val="solid"/>
          </a:ln>
        </p:spPr>
        <p:txBody>
          <a:bodyPr wrap="none" lIns="1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B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Partly supported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71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staged experiment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1644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Corpora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1644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 and legal text, with LLM-drafted questions and evidence spans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5150" y="2884577"/>
            <a:ext cx="396240" cy="4876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4172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7395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7395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7395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Fixed, sentence, semantic, structure-aware and parent-child (hierarchical)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30900" y="2884577"/>
            <a:ext cx="396240" cy="4876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6747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3145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3145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3145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BGE, E5, GTE and MiniLM, with optional Gemini and OpenAI embeddings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56650" y="2884577"/>
            <a:ext cx="396240" cy="4876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93225" y="2029972"/>
            <a:ext cx="2082800" cy="2171435"/>
          </a:xfrm>
          <a:prstGeom prst="roundRect">
            <a:avLst>
              <a:gd name="adj" fmla="val 4726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8895" y="223564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98895" y="2743640"/>
            <a:ext cx="1722261" cy="2844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98895" y="3104269"/>
            <a:ext cx="1722261" cy="916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Dense (FAISS), hybrid with BM25, and hybrid plus cross-encoder reranker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458584"/>
            <a:ext cx="10566400" cy="822960"/>
          </a:xfrm>
          <a:prstGeom prst="roundRect">
            <a:avLst>
              <a:gd name="adj" fmla="val 18650"/>
            </a:avLst>
          </a:prstGeom>
          <a:solidFill>
            <a:srgbClr val="E1EFEC"/>
          </a:solidFill>
        </p:spPr>
        <p:txBody>
          <a:bodyPr wrap="square" lIns="173442" tIns="122642" rIns="0" bIns="9724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Staged runs keep the grid small: all chunkers first, then top chunkers × embedders, then retrieval variants, then efficiency tests. Results are reported with ITU-T F.748.52 measures.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Corpus and question set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E7C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21644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corpora, 2 documents each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842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1511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C974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4,796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1511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words of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1378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01378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with evidence spans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445849"/>
            <a:ext cx="6763191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3651517"/>
            <a:ext cx="654240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per corpus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1644" y="3996885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4544" y="4000680"/>
            <a:ext cx="3557016" cy="241300"/>
          </a:xfrm>
          <a:prstGeom prst="roundRect">
            <a:avLst>
              <a:gd name="adj" fmla="val 15789"/>
            </a:avLst>
          </a:prstGeom>
          <a:solidFill>
            <a:srgbClr val="0E7C72"/>
          </a:solidFill>
        </p:spPr>
      </p:sp>
      <p:sp>
        <p:nvSpPr>
          <p:cNvPr id="19" name="Text 17"/>
          <p:cNvSpPr/>
          <p:nvPr/>
        </p:nvSpPr>
        <p:spPr>
          <a:xfrm>
            <a:off x="6345936" y="3996885"/>
            <a:ext cx="4572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1644" y="4321969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34544" y="4325764"/>
            <a:ext cx="2173732" cy="241300"/>
          </a:xfrm>
          <a:prstGeom prst="roundRect">
            <a:avLst>
              <a:gd name="adj" fmla="val 15789"/>
            </a:avLst>
          </a:prstGeom>
          <a:solidFill>
            <a:srgbClr val="C9741A"/>
          </a:solidFill>
        </p:spPr>
      </p:sp>
      <p:sp>
        <p:nvSpPr>
          <p:cNvPr id="22" name="Text 20"/>
          <p:cNvSpPr/>
          <p:nvPr/>
        </p:nvSpPr>
        <p:spPr>
          <a:xfrm>
            <a:off x="4962651" y="4321969"/>
            <a:ext cx="4572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1644" y="4647053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pilot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34544" y="4650848"/>
            <a:ext cx="395224" cy="241300"/>
          </a:xfrm>
          <a:prstGeom prst="roundRect">
            <a:avLst>
              <a:gd name="adj" fmla="val 15789"/>
            </a:avLst>
          </a:prstGeom>
          <a:solidFill>
            <a:srgbClr val="0F1B2D"/>
          </a:solidFill>
        </p:spPr>
      </p:sp>
      <p:sp>
        <p:nvSpPr>
          <p:cNvPr id="25" name="Text 23"/>
          <p:cNvSpPr/>
          <p:nvPr/>
        </p:nvSpPr>
        <p:spPr>
          <a:xfrm>
            <a:off x="3184144" y="4647053"/>
            <a:ext cx="4572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88716" y="3445849"/>
            <a:ext cx="3587309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4386" y="3651517"/>
            <a:ext cx="3271249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these corpora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94386" y="3996885"/>
            <a:ext cx="3271249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Short public documents in two domains, to test whether chunking advice transfers. Python docs were dropped (gold documents missing).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Chunking strategies prepared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7040739" cy="3560939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66264" y="2029972"/>
            <a:ext cx="3309761" cy="2044435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1933" y="2235640"/>
            <a:ext cx="3100917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text, different chunk sets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1933" y="2565840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89433" y="2565840"/>
            <a:ext cx="2724256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 2,495 words, legal 2,301 words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71933" y="2868085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89433" y="2868085"/>
            <a:ext cx="2663719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to 69 chunks per strategy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71933" y="3170324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89433" y="3170324"/>
            <a:ext cx="2579158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length 48 to 256 words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1933" y="3472569"/>
            <a:ext cx="266700" cy="4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89433" y="3472569"/>
            <a:ext cx="2658350" cy="4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parent_child embeds small chunks and returns the larger parent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9" name="Figure" descr="Grouped bar chart of chunks per chunking strategy for the health and legal corpo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844" y="2159440"/>
            <a:ext cx="67310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118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AND RETRIEVAL</a:t>
            </a:r>
            <a:endParaRPr lang="en-US" sz="105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53244"/>
            <a:ext cx="7848600" cy="4086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15"/>
              </a:lnSpc>
              <a:buNone/>
            </a:pPr>
            <a:r>
              <a:rPr lang="en-US" sz="274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Models and retrieval modes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815975" y="1893621"/>
            <a:ext cx="10560050" cy="230610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1983584"/>
          <a:ext cx="10351911" cy="2137481"/>
        </p:xfrm>
        <a:graphic>
          <a:graphicData uri="http://schemas.openxmlformats.org/drawingml/2006/table">
            <a:tbl>
              <a:tblPr/>
              <a:tblGrid>
                <a:gridCol w="1332424"/>
                <a:gridCol w="2972331"/>
                <a:gridCol w="1332424"/>
                <a:gridCol w="4714732"/>
              </a:tblGrid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Hugging Face id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Dimensions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b="1" dirty="0">
                          <a:solidFill>
                            <a:srgbClr val="0E7C7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Notes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bge-small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BAAI/bge-small-en-v1.5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Query instruction prefix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e5-small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intfloat/e5-small-v2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Query and passage prefixes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478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gte-small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thenlper/gte-small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General text embeddings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67"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1B243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MiniLM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all-MiniLM-L6-v2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384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sz="1340" dirty="0">
                          <a:solidFill>
                            <a:srgbClr val="3A4552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Also splits text for semantic chunking</a:t>
                      </a:r>
                      <a:endParaRPr lang="en-US" sz="134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4460081"/>
            <a:ext cx="3380317" cy="13787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1644" y="466574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E7C72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1644" y="5173749"/>
            <a:ext cx="3058047" cy="212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5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Dense</a:t>
            </a:r>
            <a:endParaRPr lang="en-US" sz="1225" dirty="0"/>
          </a:p>
        </p:txBody>
      </p:sp>
      <p:sp>
        <p:nvSpPr>
          <p:cNvPr id="11" name="Text 8"/>
          <p:cNvSpPr/>
          <p:nvPr/>
        </p:nvSpPr>
        <p:spPr>
          <a:xfrm>
            <a:off x="1021644" y="5462321"/>
            <a:ext cx="3058047" cy="1962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1015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FAISS vector search</a:t>
            </a:r>
            <a:endParaRPr lang="en-US" sz="1015" dirty="0"/>
          </a:p>
        </p:txBody>
      </p:sp>
      <p:sp>
        <p:nvSpPr>
          <p:cNvPr id="12" name="Shape 9"/>
          <p:cNvSpPr/>
          <p:nvPr/>
        </p:nvSpPr>
        <p:spPr>
          <a:xfrm>
            <a:off x="4405842" y="4460081"/>
            <a:ext cx="3380317" cy="13787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1511" y="466574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C9741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11511" y="5173749"/>
            <a:ext cx="3058047" cy="151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4611511" y="5401909"/>
            <a:ext cx="3171472" cy="2566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85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BM25 + dense, merged by reciprocal rank fusion</a:t>
            </a:r>
            <a:endParaRPr lang="en-US" sz="1085" dirty="0"/>
          </a:p>
        </p:txBody>
      </p:sp>
      <p:sp>
        <p:nvSpPr>
          <p:cNvPr id="16" name="Shape 13"/>
          <p:cNvSpPr/>
          <p:nvPr/>
        </p:nvSpPr>
        <p:spPr>
          <a:xfrm>
            <a:off x="7995708" y="4460081"/>
            <a:ext cx="3380317" cy="1378744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01378" y="466574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01378" y="5173749"/>
            <a:ext cx="3058047" cy="151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 + rerank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201378" y="5401909"/>
            <a:ext cx="3171472" cy="2566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Cross-encoder re-scores the top candidates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1000" y="3937000"/>
            <a:ext cx="2921000" cy="2921000"/>
          </a:xfrm>
          <a:custGeom>
            <a:avLst/>
            <a:gdLst/>
            <a:ahLst/>
            <a:cxnLst/>
            <a:rect l="l" t="t" r="r" b="b"/>
            <a:pathLst>
              <a:path w="2921000" h="2921000">
                <a:moveTo>
                  <a:pt x="1625600" y="0"/>
                </a:moveTo>
                <a:lnTo>
                  <a:pt x="2921000" y="0"/>
                </a:lnTo>
                <a:lnTo>
                  <a:pt x="2921000" y="2921000"/>
                </a:lnTo>
                <a:lnTo>
                  <a:pt x="0" y="2921000"/>
                </a:lnTo>
                <a:lnTo>
                  <a:pt x="0" y="1625600"/>
                </a:lnTo>
                <a:arcTo wR="1625600" hR="1625600" stAng="10800000" swAng="5400000"/>
                <a:close/>
              </a:path>
            </a:pathLst>
          </a:custGeom>
          <a:solidFill>
            <a:srgbClr val="13233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0" y="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762000" y="762000"/>
                </a:lnTo>
                <a:arcTo wR="762000" hR="762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1C0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DESIGN AND RESULTS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Testing each hypothesis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10560050" cy="2915973"/>
          </a:xfrm>
          <a:prstGeom prst="roundRect">
            <a:avLst>
              <a:gd name="adj" fmla="val 3375"/>
            </a:avLst>
          </a:prstGeom>
          <a:solidFill>
            <a:srgbClr val="172A45"/>
          </a:solidFill>
          <a:ln w="6350">
            <a:solidFill>
              <a:srgbClr val="2A4166"/>
            </a:solidFill>
            <a:prstDash val="solid"/>
          </a:ln>
        </p:spPr>
        <p:txBody>
          <a:bodyPr/>
          <a:p/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31333" y="2119929"/>
          <a:ext cx="10351911" cy="2747345"/>
        </p:xfrm>
        <a:graphic>
          <a:graphicData uri="http://schemas.openxmlformats.org/drawingml/2006/table">
            <a:tbl>
              <a:tblPr/>
              <a:tblGrid>
                <a:gridCol w="3382308"/>
                <a:gridCol w="3894778"/>
                <a:gridCol w="3074825"/>
              </a:tblGrid>
              <a:tr h="4735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Hypothesis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How we tested it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Result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B53"/>
                    </a:solidFill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FD1C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H1 · structure-aware chunking wins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All chunkers across embedders; paired bootstrap on f_ctx, 95% CI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Not supported (paired CIs include zero)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E0A45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H2 · reranking narrows the gap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All chunkers × dense, hybrid, hybrid + rerank; spread per mode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Supported: spread falls to 0.07 and 0.06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9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7FB2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H3 · compression is cheap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256, 128, 64 dimensions and binary codes; f_ctx vs full vectors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9D4E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Partly supported: 256-d keeps 95 to 98%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203118"/>
            <a:ext cx="10883392" cy="265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Outputs: heatmaps, pipeline-effect charts, the decision matrix and ITU-T F.748.52 tables.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941832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Best chunker depends on the document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7040739" cy="3560939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66264" y="2029972"/>
            <a:ext cx="3309761" cy="3557016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1933" y="2235640"/>
            <a:ext cx="3100917" cy="25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domains, two rankings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1933" y="2569464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89433" y="2569464"/>
            <a:ext cx="272425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Health: semantic chunking leads (0.918)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71933" y="3300984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89433" y="3300984"/>
            <a:ext cx="2663719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Legal: eight-sentence groups lead (0.951)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71933" y="4032504"/>
            <a:ext cx="266700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89433" y="4032504"/>
            <a:ext cx="257915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Rank correlation across domains: −0.02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1933" y="4764024"/>
            <a:ext cx="266700" cy="4215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89433" y="4764024"/>
            <a:ext cx="265835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embedder: e5-small (health), bge-small (legal)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9" name="Figure" descr="Stage 1 f_ctx per chunker with 95% confidence intervals for health and leg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844" y="2159440"/>
            <a:ext cx="67310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Pipeline and compression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E7C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17 of 18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21644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chunker pairs helped by hybrid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842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1511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C974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27–36×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1511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reranker time vs hybrid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1378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95–98%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01378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quality kept at 256 dimensions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445849"/>
            <a:ext cx="6763191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3651517"/>
            <a:ext cx="654240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Mean f_ctx by retrieval mode (health | legal)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1644" y="3996885"/>
            <a:ext cx="155448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4544" y="4000680"/>
            <a:ext cx="3016349" cy="241300"/>
          </a:xfrm>
          <a:prstGeom prst="roundRect">
            <a:avLst>
              <a:gd name="adj" fmla="val 15789"/>
            </a:avLst>
          </a:prstGeom>
          <a:solidFill>
            <a:srgbClr val="0E7C72"/>
          </a:solidFill>
        </p:spPr>
      </p:sp>
      <p:sp>
        <p:nvSpPr>
          <p:cNvPr id="19" name="Text 17"/>
          <p:cNvSpPr/>
          <p:nvPr/>
        </p:nvSpPr>
        <p:spPr>
          <a:xfrm>
            <a:off x="5805269" y="3996885"/>
            <a:ext cx="13716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0.848 | 0.876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1644" y="4321969"/>
            <a:ext cx="155448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34544" y="4325764"/>
            <a:ext cx="3123060" cy="241300"/>
          </a:xfrm>
          <a:prstGeom prst="roundRect">
            <a:avLst>
              <a:gd name="adj" fmla="val 15789"/>
            </a:avLst>
          </a:prstGeom>
          <a:solidFill>
            <a:srgbClr val="C9741A"/>
          </a:solidFill>
        </p:spPr>
      </p:sp>
      <p:sp>
        <p:nvSpPr>
          <p:cNvPr id="22" name="Text 20"/>
          <p:cNvSpPr/>
          <p:nvPr/>
        </p:nvSpPr>
        <p:spPr>
          <a:xfrm>
            <a:off x="5911980" y="4321969"/>
            <a:ext cx="13716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0.878 | 0.941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1644" y="4647053"/>
            <a:ext cx="155448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 + rerank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34544" y="4650848"/>
            <a:ext cx="3233327" cy="241300"/>
          </a:xfrm>
          <a:prstGeom prst="roundRect">
            <a:avLst>
              <a:gd name="adj" fmla="val 15789"/>
            </a:avLst>
          </a:prstGeom>
          <a:solidFill>
            <a:srgbClr val="0F1B2D"/>
          </a:solidFill>
        </p:spPr>
      </p:sp>
      <p:sp>
        <p:nvSpPr>
          <p:cNvPr id="25" name="Text 23"/>
          <p:cNvSpPr/>
          <p:nvPr/>
        </p:nvSpPr>
        <p:spPr>
          <a:xfrm>
            <a:off x="6022247" y="4647053"/>
            <a:ext cx="13716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0.909 | 0.954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88716" y="3445849"/>
            <a:ext cx="3587309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4386" y="3651517"/>
            <a:ext cx="3271249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 matrix winners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94386" y="3996885"/>
            <a:ext cx="3271249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Health: semantic_p90 + e5-small + hybrid. Legal: fixed_256_o64 + bge-small + hybrid.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ITU-T F.748.52 evaluation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644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E7C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 of 20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21644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clauses implemented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842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1511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C974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11511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clauses partly implemented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2029972"/>
            <a:ext cx="3380317" cy="1155524"/>
          </a:xfrm>
          <a:prstGeom prst="roundRect">
            <a:avLst>
              <a:gd name="adj" fmla="val 8518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1378" y="2210240"/>
            <a:ext cx="305804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01378" y="2756340"/>
            <a:ext cx="3058047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D67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 of scope or not implemented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445849"/>
            <a:ext cx="6763191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3651517"/>
            <a:ext cx="654240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MAP@5 per domain (clause 8.1.2)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1644" y="3996885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4544" y="4000680"/>
            <a:ext cx="3329366" cy="241300"/>
          </a:xfrm>
          <a:prstGeom prst="roundRect">
            <a:avLst>
              <a:gd name="adj" fmla="val 15789"/>
            </a:avLst>
          </a:prstGeom>
          <a:solidFill>
            <a:srgbClr val="0E7C72"/>
          </a:solidFill>
        </p:spPr>
      </p:sp>
      <p:sp>
        <p:nvSpPr>
          <p:cNvPr id="19" name="Text 17"/>
          <p:cNvSpPr/>
          <p:nvPr/>
        </p:nvSpPr>
        <p:spPr>
          <a:xfrm>
            <a:off x="6118286" y="3996885"/>
            <a:ext cx="73152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0.936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1644" y="4321969"/>
            <a:ext cx="151130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34544" y="4325764"/>
            <a:ext cx="3436077" cy="241300"/>
          </a:xfrm>
          <a:prstGeom prst="roundRect">
            <a:avLst>
              <a:gd name="adj" fmla="val 15789"/>
            </a:avLst>
          </a:prstGeom>
          <a:solidFill>
            <a:srgbClr val="C9741A"/>
          </a:solidFill>
        </p:spPr>
      </p:sp>
      <p:sp>
        <p:nvSpPr>
          <p:cNvPr id="22" name="Text 20"/>
          <p:cNvSpPr/>
          <p:nvPr/>
        </p:nvSpPr>
        <p:spPr>
          <a:xfrm>
            <a:off x="6224997" y="4321969"/>
            <a:ext cx="731520" cy="2742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0.966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88716" y="3445849"/>
            <a:ext cx="3587309" cy="1655763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4386" y="3651517"/>
            <a:ext cx="3271249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Aligned, not conformant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94386" y="3996885"/>
            <a:ext cx="3271249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conformance would need image and video support, distributed storage and a security system.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1625600" y="1905000"/>
                </a:lnTo>
                <a:arcTo wR="1625600" hR="162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ECE9"/>
          </a:solidFill>
        </p:spPr>
      </p:sp>
      <p:sp>
        <p:nvSpPr>
          <p:cNvPr id="3" name="Shape 1"/>
          <p:cNvSpPr/>
          <p:nvPr/>
        </p:nvSpPr>
        <p:spPr>
          <a:xfrm>
            <a:off x="11176000" y="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1016000" y="1016000"/>
                </a:lnTo>
                <a:arcTo wR="1016000" hR="1016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E7C72"/>
          </a:solidFill>
        </p:spPr>
      </p:sp>
      <p:sp>
        <p:nvSpPr>
          <p:cNvPr id="4" name="Text 2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297868"/>
            <a:ext cx="7848600" cy="500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B243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steps and plan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5975" y="2030095"/>
            <a:ext cx="3380105" cy="1012825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9015" y="2396490"/>
            <a:ext cx="3084195" cy="607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Done: survey, pipeline, results and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5630" y="2030095"/>
            <a:ext cx="3380105" cy="1012825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8670" y="2373630"/>
            <a:ext cx="3084195" cy="5067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Now: verify questions and re-run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920" y="2030095"/>
            <a:ext cx="3274695" cy="975360"/>
          </a:xfrm>
          <a:prstGeom prst="roundRect">
            <a:avLst>
              <a:gd name="adj" fmla="val 804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8960" y="2359660"/>
            <a:ext cx="3084195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demo and IEEE report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975" y="3514018"/>
            <a:ext cx="5175250" cy="2267656"/>
          </a:xfrm>
          <a:prstGeom prst="roundRect">
            <a:avLst>
              <a:gd name="adj" fmla="val 434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644" y="3719692"/>
            <a:ext cx="490682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the final review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1644" y="4065060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9144" y="4065060"/>
            <a:ext cx="402336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Fix the Python-docs corpus and re-run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1644" y="4385028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39144" y="4385028"/>
            <a:ext cx="402336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Human-verify the gold questions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1644" y="4704997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39144" y="4704997"/>
            <a:ext cx="402336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 larger corpora with unanswerable questions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1644" y="5024965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9144" y="5024965"/>
            <a:ext cx="402336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Fill human rating sheets; second-provider judge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1644" y="5344939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C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39144" y="5344939"/>
            <a:ext cx="402336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the Config Advisor app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00775" y="3514018"/>
            <a:ext cx="5175250" cy="1947686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6445" y="3719692"/>
            <a:ext cx="4906828" cy="2691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Suggested team split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6445" y="4065060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3945" y="4065060"/>
            <a:ext cx="239024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and chunking pipeline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6445" y="4385028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3945" y="4385028"/>
            <a:ext cx="2364317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 and efficiency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6445" y="4704997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3945" y="4704997"/>
            <a:ext cx="2323571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set and metrics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6445" y="5024965"/>
            <a:ext cx="266700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74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3945" y="5024965"/>
            <a:ext cx="3182726" cy="2564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A455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Retrieval, reranking and advisor app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3243801" y="2870200"/>
            <a:ext cx="5704311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8800"/>
              </a:lnSpc>
              <a:buNone/>
            </a:pPr>
            <a:r>
              <a:rPr lang="en-US" sz="8000" b="0" i="0" dirty="0">
                <a:solidFill>
                  <a:srgbClr val="EEF1F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ea Presentation – Chunking, Embeddings &amp; Retrieval Study for RAG">
  <a:themeElements>
    <a:clrScheme name="Idea Presentation – Chunking, Embeddings &amp; Retrieval Study for RAG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0E7C72"/>
      </a:accent1>
      <a:accent2>
        <a:srgbClr val="C9741A"/>
      </a:accent2>
      <a:accent3>
        <a:srgbClr val="4FD1C0"/>
      </a:accent3>
      <a:accent4>
        <a:srgbClr val="E0A458"/>
      </a:accent4>
      <a:accent5>
        <a:srgbClr val="7FB2FF"/>
      </a:accent5>
      <a:accent6>
        <a:srgbClr val="3A4552"/>
      </a:accent6>
      <a:hlink>
        <a:srgbClr val="0563C1"/>
      </a:hlink>
      <a:folHlink>
        <a:srgbClr val="954F72"/>
      </a:folHlink>
    </a:clrScheme>
    <a:fontScheme name="Idea Presentation – Chunking, Embeddings &amp; Retrieval Study for RA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dea Presentation – Chunking, Embeddings &amp; Retrieval Study for RAG">
  <a:themeElements>
    <a:clrScheme name="Idea Presentation – Chunking, Embeddings &amp; Retrieval Study for RAG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0E7C72"/>
      </a:accent1>
      <a:accent2>
        <a:srgbClr val="C9741A"/>
      </a:accent2>
      <a:accent3>
        <a:srgbClr val="4FD1C0"/>
      </a:accent3>
      <a:accent4>
        <a:srgbClr val="E0A458"/>
      </a:accent4>
      <a:accent5>
        <a:srgbClr val="7FB2FF"/>
      </a:accent5>
      <a:accent6>
        <a:srgbClr val="3A4552"/>
      </a:accent6>
      <a:hlink>
        <a:srgbClr val="0563C1"/>
      </a:hlink>
      <a:folHlink>
        <a:srgbClr val="954F72"/>
      </a:folHlink>
    </a:clrScheme>
    <a:fontScheme name="Idea Presentation – Chunking, Embeddings &amp; Retrieval Study for RA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dea Presentation – Chunking, Embeddings &amp; Retrieval Study for RAG">
  <a:themeElements>
    <a:clrScheme name="Idea Presentation – Chunking, Embeddings &amp; Retrieval Study for RAG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0E7C72"/>
      </a:accent1>
      <a:accent2>
        <a:srgbClr val="C9741A"/>
      </a:accent2>
      <a:accent3>
        <a:srgbClr val="4FD1C0"/>
      </a:accent3>
      <a:accent4>
        <a:srgbClr val="E0A458"/>
      </a:accent4>
      <a:accent5>
        <a:srgbClr val="7FB2FF"/>
      </a:accent5>
      <a:accent6>
        <a:srgbClr val="3A4552"/>
      </a:accent6>
      <a:hlink>
        <a:srgbClr val="0563C1"/>
      </a:hlink>
      <a:folHlink>
        <a:srgbClr val="954F72"/>
      </a:folHlink>
    </a:clrScheme>
    <a:fontScheme name="Idea Presentation – Chunking, Embeddings &amp; Retrieval Study for RA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5788</Words>
  <Application>WPS Presentation</Application>
  <PresentationFormat>On-screen Show (16:9)</PresentationFormat>
  <Paragraphs>456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Georgia</vt:lpstr>
      <vt:lpstr>Georgia</vt:lpstr>
      <vt:lpstr>Georgia</vt:lpstr>
      <vt:lpstr>Arial</vt:lpstr>
      <vt:lpstr>Arial</vt:lpstr>
      <vt:lpstr>Microsoft YaHei</vt:lpstr>
      <vt:lpstr>Arial Unicode MS</vt:lpstr>
      <vt:lpstr>Calibri</vt:lpstr>
      <vt:lpstr>Gadugi</vt:lpstr>
      <vt:lpstr>Idea Presentation – Chunking, Embeddings &amp; Retrieval Study for RAG</vt:lpstr>
      <vt:lpstr>1_Idea Presentation – Chunking, Embeddings &amp; Retrieval Study for RAG</vt:lpstr>
      <vt:lpstr>Beyond Chunk Size</vt:lpstr>
      <vt:lpstr>Retrieval quality decides RAG quality</vt:lpstr>
      <vt:lpstr>Twenty works surveyed (1 of 2)</vt:lpstr>
      <vt:lpstr>Twenty works surveyed (2 of 2)</vt:lpstr>
      <vt:lpstr>What is still missing</vt:lpstr>
      <vt:lpstr>Three hypotheses</vt:lpstr>
      <vt:lpstr>A staged experiment</vt:lpstr>
      <vt:lpstr>Corpus and question set</vt:lpstr>
      <vt:lpstr>Chunking strategies prepared</vt:lpstr>
      <vt:lpstr>Models and retrieval modes</vt:lpstr>
      <vt:lpstr>Testing each hypothesis</vt:lpstr>
      <vt:lpstr>Next steps and plan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Presentation – Chunking, Embeddings &amp; Retrieval Study for RAG</dc:title>
  <dc:creator/>
  <cp:lastModifiedBy>rahul shenoy</cp:lastModifiedBy>
  <cp:revision>3</cp:revision>
  <dcterms:created xsi:type="dcterms:W3CDTF">2026-10-12T04:29:00Z</dcterms:created>
  <dcterms:modified xsi:type="dcterms:W3CDTF">2026-10-12T09:21:59Z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B18EA64FC1564514BB57219D934E90CD_12</vt:lpwstr>
  </property>
  <property fmtid="{D5CDD505-2E9C-101B-9397-08002B2CF9AE}" pid="3" name="KSOProductBuildVer">
    <vt:lpwstr>2057-12.2.0.23206</vt:lpwstr>
  </property>
</Properties>
</file>